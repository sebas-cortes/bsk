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PgoYc2K9UTlK//rLcOgXmSLt7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E0496E-2A84-4023-9FC8-96F41C6EF87F}">
  <a:tblStyle styleId="{33E0496E-2A84-4023-9FC8-96F41C6EF8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V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41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41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41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cap="flat" cmpd="sng" w="381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3806097" dist="28398">
              <a:srgbClr val="243F60">
                <a:alpha val="4941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VE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VE" sz="1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685800" y="2130425"/>
            <a:ext cx="77724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VE"/>
              <a:t>Hoja de ruta Mesa Digital (Agile Roadmap)</a:t>
            </a:r>
            <a:r>
              <a:rPr b="1" lang="es-VE" sz="2400">
                <a:solidFill>
                  <a:srgbClr val="00B050"/>
                </a:solidFill>
              </a:rPr>
              <a:t> </a:t>
            </a:r>
            <a:br>
              <a:rPr b="1" lang="es-VE" sz="2400">
                <a:solidFill>
                  <a:srgbClr val="00B050"/>
                </a:solidFill>
              </a:rPr>
            </a:br>
            <a:endParaRPr b="1"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513638" y="4229405"/>
            <a:ext cx="6116724" cy="213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es-VE" sz="2800"/>
              <a:t>Período: </a:t>
            </a:r>
            <a:r>
              <a:rPr b="1" lang="es-VE" sz="2800">
                <a:solidFill>
                  <a:srgbClr val="00B050"/>
                </a:solidFill>
              </a:rPr>
              <a:t>[</a:t>
            </a:r>
            <a:r>
              <a:rPr b="1" lang="es-VE" sz="2800">
                <a:solidFill>
                  <a:srgbClr val="00B050"/>
                </a:solidFill>
              </a:rPr>
              <a:t>22</a:t>
            </a:r>
            <a:r>
              <a:rPr b="1" lang="es-VE" sz="2800">
                <a:solidFill>
                  <a:srgbClr val="00B050"/>
                </a:solidFill>
              </a:rPr>
              <a:t>/0</a:t>
            </a:r>
            <a:r>
              <a:rPr b="1" lang="es-VE" sz="2800">
                <a:solidFill>
                  <a:srgbClr val="00B050"/>
                </a:solidFill>
              </a:rPr>
              <a:t>8</a:t>
            </a:r>
            <a:r>
              <a:rPr b="1" lang="es-VE" sz="2800">
                <a:solidFill>
                  <a:srgbClr val="00B050"/>
                </a:solidFill>
              </a:rPr>
              <a:t>/2025] al [9/12/2025]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Organización: </a:t>
            </a:r>
            <a:r>
              <a:rPr b="1" lang="es-VE" sz="2800">
                <a:solidFill>
                  <a:srgbClr val="00B050"/>
                </a:solidFill>
              </a:rPr>
              <a:t>BSK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Cliente: </a:t>
            </a:r>
            <a:r>
              <a:rPr b="1" lang="es-VE" sz="2800">
                <a:solidFill>
                  <a:srgbClr val="00B050"/>
                </a:solidFill>
              </a:rPr>
              <a:t>Restaurantes</a:t>
            </a:r>
            <a:r>
              <a:rPr b="1" lang="es-VE" sz="2800">
                <a:solidFill>
                  <a:srgbClr val="00B050"/>
                </a:solidFill>
              </a:rPr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Dueño del producto (Owner): </a:t>
            </a:r>
            <a:r>
              <a:rPr b="1" lang="es-VE" sz="2800">
                <a:solidFill>
                  <a:srgbClr val="00B050"/>
                </a:solidFill>
              </a:rPr>
              <a:t>Sebastian Cortes</a:t>
            </a:r>
            <a:endParaRPr b="1" sz="28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b="1" lang="es-VE" sz="2800"/>
              <a:t>Scrum Master: </a:t>
            </a:r>
            <a:r>
              <a:rPr b="1" lang="es-VE" sz="2800">
                <a:solidFill>
                  <a:srgbClr val="00B050"/>
                </a:solidFill>
              </a:rPr>
              <a:t>[Kevin Jiménez]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t/>
            </a:r>
            <a:endParaRPr b="1" sz="2800">
              <a:solidFill>
                <a:srgbClr val="00B050"/>
              </a:solidFill>
            </a:endParaRPr>
          </a:p>
        </p:txBody>
      </p:sp>
      <p:sp>
        <p:nvSpPr>
          <p:cNvPr id="102" name="Google Shape;102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graphicFrame>
        <p:nvGraphicFramePr>
          <p:cNvPr id="108" name="Google Shape;108;p2"/>
          <p:cNvGraphicFramePr/>
          <p:nvPr/>
        </p:nvGraphicFramePr>
        <p:xfrm>
          <a:off x="251520" y="1484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{33E0496E-2A84-4023-9FC8-96F41C6EF87F}</a:tableStyleId>
              </a:tblPr>
              <a:tblGrid>
                <a:gridCol w="2520275"/>
                <a:gridCol w="1512175"/>
                <a:gridCol w="1584175"/>
                <a:gridCol w="1512175"/>
                <a:gridCol w="1512175"/>
              </a:tblGrid>
              <a:tr h="14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1800"/>
                        <a:t>MESA DIGITAL / ROAD MAP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1800"/>
                        <a:t>SPRINT 1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1800"/>
                        <a:t>SPRINT 2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1800"/>
                        <a:t>SPRINT 3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1800"/>
                        <a:t>SPRINT 4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1800" u="none" cap="none" strike="noStrike"/>
                        <a:t>Levantamiento e investigación del proyecto.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1800" u="none" cap="none" strike="noStrike"/>
                        <a:t>Desarrollo e implementación.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1800" u="none" cap="none" strike="noStrike"/>
                        <a:t>Integración y Ajustes.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1800" u="none" cap="none" strike="noStrike"/>
                        <a:t>Pruebas y lanzamiento.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2"/>
          <p:cNvSpPr/>
          <p:nvPr/>
        </p:nvSpPr>
        <p:spPr>
          <a:xfrm>
            <a:off x="2771800" y="2184525"/>
            <a:ext cx="1484400" cy="933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VE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Investigación y análisis de requerimientos del sistema de mesa digital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283975" y="2184525"/>
            <a:ext cx="1583100" cy="933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VE" sz="1000">
                <a:solidFill>
                  <a:schemeClr val="lt1"/>
                </a:solidFill>
              </a:rPr>
              <a:t>Revisión</a:t>
            </a:r>
            <a:r>
              <a:rPr lang="es-VE" sz="1000">
                <a:solidFill>
                  <a:schemeClr val="lt1"/>
                </a:solidFill>
              </a:rPr>
              <a:t> de normas y </a:t>
            </a:r>
            <a:r>
              <a:rPr lang="es-VE" sz="1000">
                <a:solidFill>
                  <a:schemeClr val="lt1"/>
                </a:solidFill>
              </a:rPr>
              <a:t>estándares</a:t>
            </a:r>
            <a:r>
              <a:rPr lang="es-VE" sz="1000">
                <a:solidFill>
                  <a:schemeClr val="lt1"/>
                </a:solidFill>
              </a:rPr>
              <a:t> para software de uso comercial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894850" y="2184525"/>
            <a:ext cx="1484400" cy="933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VE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Diseño de la arquitectura del sistema y su funcionalidad principal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2826550" y="3244125"/>
            <a:ext cx="1374900" cy="933000"/>
          </a:xfrm>
          <a:prstGeom prst="homePlate">
            <a:avLst>
              <a:gd fmla="val 50000" name="adj"/>
            </a:avLst>
          </a:prstGeom>
          <a:solidFill>
            <a:srgbClr val="FABF8E"/>
          </a:solidFill>
          <a:ln cap="flat" cmpd="sng" w="25400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V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Desarrollo de la plataforma web </a:t>
            </a:r>
            <a:r>
              <a:rPr lang="es-VE" sz="1000">
                <a:solidFill>
                  <a:schemeClr val="dk1"/>
                </a:solidFill>
              </a:rPr>
              <a:t>para </a:t>
            </a:r>
            <a:r>
              <a:rPr b="0" i="0" lang="es-V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</a:t>
            </a:r>
            <a:r>
              <a:rPr lang="es-VE" sz="1000">
                <a:solidFill>
                  <a:schemeClr val="dk1"/>
                </a:solidFill>
              </a:rPr>
              <a:t> mesa digital</a:t>
            </a:r>
            <a:r>
              <a:rPr b="0" i="0" lang="es-V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4354975" y="3200250"/>
            <a:ext cx="1583100" cy="933000"/>
          </a:xfrm>
          <a:prstGeom prst="homePlate">
            <a:avLst>
              <a:gd fmla="val 50000" name="adj"/>
            </a:avLst>
          </a:prstGeom>
          <a:solidFill>
            <a:srgbClr val="FABF8E"/>
          </a:solidFill>
          <a:ln cap="flat" cmpd="sng" w="25400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VE" sz="900">
                <a:solidFill>
                  <a:schemeClr val="dk1"/>
                </a:solidFill>
              </a:rPr>
              <a:t>Implementación</a:t>
            </a:r>
            <a:r>
              <a:rPr lang="es-VE" sz="900">
                <a:solidFill>
                  <a:schemeClr val="dk1"/>
                </a:solidFill>
              </a:rPr>
              <a:t> de funcionalidades principales:Menu/CartaDigital, </a:t>
            </a:r>
            <a:r>
              <a:rPr lang="es-VE" sz="900">
                <a:solidFill>
                  <a:schemeClr val="dk1"/>
                </a:solidFill>
              </a:rPr>
              <a:t>Generación</a:t>
            </a:r>
            <a:r>
              <a:rPr lang="es-VE" sz="900">
                <a:solidFill>
                  <a:schemeClr val="dk1"/>
                </a:solidFill>
              </a:rPr>
              <a:t> de QR por mesa, Flujo de pedidos del cliente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2826550" y="4230350"/>
            <a:ext cx="1484400" cy="1024800"/>
          </a:xfrm>
          <a:prstGeom prst="homePlate">
            <a:avLst>
              <a:gd fmla="val 50000" name="adj"/>
            </a:avLst>
          </a:prstGeom>
          <a:solidFill>
            <a:srgbClr val="C2D59B"/>
          </a:solidFill>
          <a:ln cap="flat" cmpd="sng" w="25400">
            <a:solidFill>
              <a:srgbClr val="C2D5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VE" sz="900">
                <a:solidFill>
                  <a:schemeClr val="dk1"/>
                </a:solidFill>
              </a:rPr>
              <a:t>Integraciones iniciales, </a:t>
            </a:r>
            <a:r>
              <a:rPr lang="es-VE" sz="900">
                <a:solidFill>
                  <a:schemeClr val="dk1"/>
                </a:solidFill>
              </a:rPr>
              <a:t>conexión</a:t>
            </a:r>
            <a:r>
              <a:rPr lang="es-VE" sz="900">
                <a:solidFill>
                  <a:schemeClr val="dk1"/>
                </a:solidFill>
              </a:rPr>
              <a:t> del backend, </a:t>
            </a:r>
            <a:r>
              <a:rPr lang="es-VE" sz="900">
                <a:solidFill>
                  <a:schemeClr val="dk1"/>
                </a:solidFill>
              </a:rPr>
              <a:t>validación</a:t>
            </a:r>
            <a:r>
              <a:rPr lang="es-VE" sz="900">
                <a:solidFill>
                  <a:schemeClr val="dk1"/>
                </a:solidFill>
              </a:rPr>
              <a:t> del login </a:t>
            </a:r>
            <a:r>
              <a:rPr lang="es-VE" sz="900">
                <a:solidFill>
                  <a:schemeClr val="dk1"/>
                </a:solidFill>
              </a:rPr>
              <a:t>según</a:t>
            </a:r>
            <a:r>
              <a:rPr lang="es-VE" sz="900">
                <a:solidFill>
                  <a:schemeClr val="dk1"/>
                </a:solidFill>
              </a:rPr>
              <a:t> roles, </a:t>
            </a:r>
            <a:r>
              <a:rPr lang="es-VE" sz="900">
                <a:solidFill>
                  <a:schemeClr val="dk1"/>
                </a:solidFill>
              </a:rPr>
              <a:t>integración</a:t>
            </a:r>
            <a:r>
              <a:rPr lang="es-VE" sz="900">
                <a:solidFill>
                  <a:schemeClr val="dk1"/>
                </a:solidFill>
              </a:rPr>
              <a:t> del QR con flujo de Mesa ocupada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354975" y="4300226"/>
            <a:ext cx="1583100" cy="933000"/>
          </a:xfrm>
          <a:prstGeom prst="homePlate">
            <a:avLst>
              <a:gd fmla="val 50000" name="adj"/>
            </a:avLst>
          </a:prstGeom>
          <a:solidFill>
            <a:srgbClr val="C2D59B"/>
          </a:solidFill>
          <a:ln cap="flat" cmpd="sng" w="25400">
            <a:solidFill>
              <a:srgbClr val="C2D5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VE" sz="1000">
                <a:solidFill>
                  <a:schemeClr val="dk1"/>
                </a:solidFill>
              </a:rPr>
              <a:t>Integración</a:t>
            </a:r>
            <a:r>
              <a:rPr lang="es-VE" sz="1000">
                <a:solidFill>
                  <a:schemeClr val="dk1"/>
                </a:solidFill>
              </a:rPr>
              <a:t> de funciones restantes, panel de cocina con pedidos de tiempo real, </a:t>
            </a:r>
            <a:r>
              <a:rPr lang="es-VE" sz="1000">
                <a:solidFill>
                  <a:schemeClr val="dk1"/>
                </a:solidFill>
              </a:rPr>
              <a:t>Integración</a:t>
            </a:r>
            <a:r>
              <a:rPr lang="es-VE" sz="1000">
                <a:solidFill>
                  <a:schemeClr val="dk1"/>
                </a:solidFill>
              </a:rPr>
              <a:t> de </a:t>
            </a:r>
            <a:r>
              <a:rPr lang="es-VE" sz="1000">
                <a:solidFill>
                  <a:schemeClr val="dk1"/>
                </a:solidFill>
              </a:rPr>
              <a:t>módulo</a:t>
            </a:r>
            <a:r>
              <a:rPr lang="es-VE" sz="1000">
                <a:solidFill>
                  <a:schemeClr val="dk1"/>
                </a:solidFill>
              </a:rPr>
              <a:t> de mesero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5894850" y="4318875"/>
            <a:ext cx="1583100" cy="836100"/>
          </a:xfrm>
          <a:prstGeom prst="homePlate">
            <a:avLst>
              <a:gd fmla="val 50000" name="adj"/>
            </a:avLst>
          </a:prstGeom>
          <a:solidFill>
            <a:srgbClr val="C2D59B"/>
          </a:solidFill>
          <a:ln cap="flat" cmpd="sng" w="25400">
            <a:solidFill>
              <a:srgbClr val="C2D5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VE" sz="1000">
                <a:solidFill>
                  <a:schemeClr val="dk1"/>
                </a:solidFill>
              </a:rPr>
              <a:t>Pruebas Integradas, </a:t>
            </a:r>
            <a:r>
              <a:rPr lang="es-VE" sz="1000">
                <a:solidFill>
                  <a:schemeClr val="dk1"/>
                </a:solidFill>
              </a:rPr>
              <a:t>optimización</a:t>
            </a:r>
            <a:r>
              <a:rPr lang="es-VE" sz="1000">
                <a:solidFill>
                  <a:schemeClr val="dk1"/>
                </a:solidFill>
              </a:rPr>
              <a:t> de tiempos de carga, </a:t>
            </a:r>
            <a:r>
              <a:rPr lang="es-VE" sz="1000">
                <a:solidFill>
                  <a:schemeClr val="dk1"/>
                </a:solidFill>
              </a:rPr>
              <a:t>validación</a:t>
            </a:r>
            <a:r>
              <a:rPr lang="es-VE" sz="1000">
                <a:solidFill>
                  <a:schemeClr val="dk1"/>
                </a:solidFill>
              </a:rPr>
              <a:t> de seguridad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2826550" y="5497050"/>
            <a:ext cx="1583100" cy="7458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2540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VE" sz="1000">
                <a:solidFill>
                  <a:schemeClr val="dk1"/>
                </a:solidFill>
              </a:rPr>
              <a:t>Demostración</a:t>
            </a:r>
            <a:r>
              <a:rPr lang="es-VE" sz="1000">
                <a:solidFill>
                  <a:schemeClr val="dk1"/>
                </a:solidFill>
              </a:rPr>
              <a:t> del primer flujo: QR-</a:t>
            </a:r>
            <a:r>
              <a:rPr lang="es-VE" sz="1000">
                <a:solidFill>
                  <a:schemeClr val="dk1"/>
                </a:solidFill>
              </a:rPr>
              <a:t>menú</a:t>
            </a:r>
            <a:r>
              <a:rPr lang="es-VE" sz="1000">
                <a:solidFill>
                  <a:schemeClr val="dk1"/>
                </a:solidFill>
              </a:rPr>
              <a:t>-hacer pedidos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4459075" y="5309900"/>
            <a:ext cx="1374900" cy="10248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2540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VE" sz="900">
                <a:solidFill>
                  <a:schemeClr val="dk1"/>
                </a:solidFill>
              </a:rPr>
              <a:t>Pruebas de usabilidad, pruebas de carga del modelo de </a:t>
            </a:r>
            <a:r>
              <a:rPr lang="es-VE" sz="900">
                <a:solidFill>
                  <a:schemeClr val="dk1"/>
                </a:solidFill>
              </a:rPr>
              <a:t>pedidos, corrección de errores preliminares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6034800" y="5497050"/>
            <a:ext cx="1303200" cy="7458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2540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VE" sz="1000">
                <a:solidFill>
                  <a:schemeClr val="dk1"/>
                </a:solidFill>
              </a:rPr>
              <a:t>Seguimiento del desempeño y monitoreo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7517425" y="2250175"/>
            <a:ext cx="1499100" cy="836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Refinamiento final del diseño y ajuste de escalabilidad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5943175" y="3292050"/>
            <a:ext cx="1499100" cy="933000"/>
          </a:xfrm>
          <a:prstGeom prst="homePlate">
            <a:avLst>
              <a:gd fmla="val 50000" name="adj"/>
            </a:avLst>
          </a:prstGeom>
          <a:solidFill>
            <a:srgbClr val="FABF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200"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lang="es-VE" sz="1200">
                <a:latin typeface="Calibri"/>
                <a:ea typeface="Calibri"/>
                <a:cs typeface="Calibri"/>
                <a:sym typeface="Calibri"/>
              </a:rPr>
              <a:t> de pagos y mejoras del flujo del cliente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7447375" y="3200250"/>
            <a:ext cx="1696500" cy="1024800"/>
          </a:xfrm>
          <a:prstGeom prst="homePlate">
            <a:avLst>
              <a:gd fmla="val 50000" name="adj"/>
            </a:avLst>
          </a:prstGeom>
          <a:solidFill>
            <a:srgbClr val="FABF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>
                <a:latin typeface="Calibri"/>
                <a:ea typeface="Calibri"/>
                <a:cs typeface="Calibri"/>
                <a:sym typeface="Calibri"/>
              </a:rPr>
              <a:t>Optimización</a:t>
            </a:r>
            <a:r>
              <a:rPr lang="es-VE" sz="1000">
                <a:latin typeface="Calibri"/>
                <a:ea typeface="Calibri"/>
                <a:cs typeface="Calibri"/>
                <a:sym typeface="Calibri"/>
              </a:rPr>
              <a:t> y cierre del proyecto, ajustes visuales, responsividad, mejoras al panel de </a:t>
            </a:r>
            <a:r>
              <a:rPr lang="es-VE" sz="1000"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7517425" y="4346613"/>
            <a:ext cx="1499100" cy="749400"/>
          </a:xfrm>
          <a:prstGeom prst="homePlat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200">
                <a:latin typeface="Calibri"/>
                <a:ea typeface="Calibri"/>
                <a:cs typeface="Calibri"/>
                <a:sym typeface="Calibri"/>
              </a:rPr>
              <a:t>Ajustes finales del sistema completo, </a:t>
            </a:r>
            <a:r>
              <a:rPr lang="es-VE" sz="1200">
                <a:latin typeface="Calibri"/>
                <a:ea typeface="Calibri"/>
                <a:cs typeface="Calibri"/>
                <a:sym typeface="Calibri"/>
              </a:rPr>
              <a:t>revisión</a:t>
            </a:r>
            <a:r>
              <a:rPr lang="es-VE" sz="1200">
                <a:latin typeface="Calibri"/>
                <a:ea typeface="Calibri"/>
                <a:cs typeface="Calibri"/>
                <a:sym typeface="Calibri"/>
              </a:rPr>
              <a:t> de desempeño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7433425" y="5355000"/>
            <a:ext cx="1583100" cy="933000"/>
          </a:xfrm>
          <a:prstGeom prst="homePlate">
            <a:avLst>
              <a:gd fmla="val 50000" name="adj"/>
            </a:avLst>
          </a:prstGeom>
          <a:solidFill>
            <a:srgbClr val="92CC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100">
                <a:latin typeface="Calibri"/>
                <a:ea typeface="Calibri"/>
                <a:cs typeface="Calibri"/>
                <a:sym typeface="Calibri"/>
              </a:rPr>
              <a:t>Publicación</a:t>
            </a:r>
            <a:r>
              <a:rPr lang="es-VE" sz="1100">
                <a:latin typeface="Calibri"/>
                <a:ea typeface="Calibri"/>
                <a:cs typeface="Calibri"/>
                <a:sym typeface="Calibri"/>
              </a:rPr>
              <a:t> del sistema, plan de mantenimiento y nuevas funcionalidades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2013-07-13T16:52:20Z</dcterms:created>
  <dc:creator>admin</dc:creator>
</cp:coreProperties>
</file>